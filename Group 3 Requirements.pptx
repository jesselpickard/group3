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Old Standard TT"/>
      <p:regular r:id="rId22"/>
      <p:bold r:id="rId23"/>
      <p: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OldStandardTT-regular.fnt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font" Target="fonts/OldStandardTT-italic.fntdata"/><Relationship Id="rId12" Type="http://schemas.openxmlformats.org/officeDocument/2006/relationships/slide" Target="slides/slide7.xml"/><Relationship Id="rId23" Type="http://schemas.openxmlformats.org/officeDocument/2006/relationships/font" Target="fonts/OldStandardT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7026e78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c7026e78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c776fcab5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c776fcab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c7026e78a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c7026e78a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7026e78a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7026e78a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729ce8155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c729ce8155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c729ce815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c729ce815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729ce815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c729ce815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c729ce815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c729ce815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729ce815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729ce815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729ce815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c729ce815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c7558d3b27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c7558d3b27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c776fcab5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c776fcab5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729ce815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c729ce815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729ce815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729ce815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7558d3b27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c7558d3b27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MTG Inventory Manager</a:t>
            </a:r>
            <a:endParaRPr/>
          </a:p>
          <a:p>
            <a:pPr indent="0" lvl="0" marL="0" rtl="0" algn="l">
              <a:spcBef>
                <a:spcPts val="0"/>
              </a:spcBef>
              <a:spcAft>
                <a:spcPts val="0"/>
              </a:spcAft>
              <a:buNone/>
            </a:pPr>
            <a:r>
              <a:rPr lang="en"/>
              <a:t>Requirements</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By: Dewayne Scrivner, Jesse Pickard, Jordan Weaver, and Mason Allen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Abstract (The Problem)</a:t>
            </a:r>
            <a:endParaRPr/>
          </a:p>
        </p:txBody>
      </p:sp>
      <p:sp>
        <p:nvSpPr>
          <p:cNvPr id="66" name="Google Shape;66;p1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Magic: The Gathering (MTG) has over 27,000 unique cards</a:t>
            </a:r>
            <a:endParaRPr/>
          </a:p>
          <a:p>
            <a:pPr indent="0" lvl="0" marL="0" rtl="0" algn="l">
              <a:spcBef>
                <a:spcPts val="1200"/>
              </a:spcBef>
              <a:spcAft>
                <a:spcPts val="0"/>
              </a:spcAft>
              <a:buNone/>
            </a:pPr>
            <a:r>
              <a:rPr lang="en"/>
              <a:t>The volume of cards can make inventory management difficult</a:t>
            </a:r>
            <a:endParaRPr/>
          </a:p>
          <a:p>
            <a:pPr indent="0" lvl="0" marL="0" rtl="0" algn="l">
              <a:spcBef>
                <a:spcPts val="1200"/>
              </a:spcBef>
              <a:spcAft>
                <a:spcPts val="0"/>
              </a:spcAft>
              <a:buNone/>
            </a:pPr>
            <a:r>
              <a:rPr lang="en"/>
              <a:t>This leads players to </a:t>
            </a:r>
            <a:r>
              <a:rPr lang="en"/>
              <a:t>struggle</a:t>
            </a:r>
            <a:r>
              <a:rPr lang="en"/>
              <a:t> to find what cards they own and what cards are in decks</a:t>
            </a:r>
            <a:endParaRPr/>
          </a:p>
          <a:p>
            <a:pPr indent="0" lvl="0" marL="0" rtl="0" algn="l">
              <a:spcBef>
                <a:spcPts val="1200"/>
              </a:spcBef>
              <a:spcAft>
                <a:spcPts val="0"/>
              </a:spcAft>
              <a:buNone/>
            </a:pPr>
            <a:r>
              <a:rPr lang="en"/>
              <a:t>Poor tracking can lead to inefficient decks or overlooked strategic options when making decks</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a:t>Abstract (The Solution)</a:t>
            </a:r>
            <a:endParaRPr/>
          </a:p>
        </p:txBody>
      </p:sp>
      <p:sp>
        <p:nvSpPr>
          <p:cNvPr id="72" name="Google Shape;72;p15"/>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project would be a web based Inventory Manager for anyone to use</a:t>
            </a:r>
            <a:endParaRPr/>
          </a:p>
          <a:p>
            <a:pPr indent="0" lvl="0" marL="0" rtl="0" algn="l">
              <a:spcBef>
                <a:spcPts val="1200"/>
              </a:spcBef>
              <a:spcAft>
                <a:spcPts val="0"/>
              </a:spcAft>
              <a:buNone/>
            </a:pPr>
            <a:r>
              <a:rPr lang="en"/>
              <a:t>With:</a:t>
            </a:r>
            <a:endParaRPr/>
          </a:p>
          <a:p>
            <a:pPr indent="-342900" lvl="0" marL="457200" rtl="0" algn="l">
              <a:lnSpc>
                <a:spcPct val="200000"/>
              </a:lnSpc>
              <a:spcBef>
                <a:spcPts val="1200"/>
              </a:spcBef>
              <a:spcAft>
                <a:spcPts val="0"/>
              </a:spcAft>
              <a:buSzPts val="1800"/>
              <a:buChar char="●"/>
            </a:pPr>
            <a:r>
              <a:rPr lang="en"/>
              <a:t>Organized digital tracking</a:t>
            </a:r>
            <a:endParaRPr/>
          </a:p>
          <a:p>
            <a:pPr indent="-342900" lvl="0" marL="457200" rtl="0" algn="l">
              <a:lnSpc>
                <a:spcPct val="200000"/>
              </a:lnSpc>
              <a:spcBef>
                <a:spcPts val="0"/>
              </a:spcBef>
              <a:spcAft>
                <a:spcPts val="0"/>
              </a:spcAft>
              <a:buSzPts val="1800"/>
              <a:buChar char="●"/>
            </a:pPr>
            <a:r>
              <a:rPr lang="en"/>
              <a:t>Integrated deck builder</a:t>
            </a:r>
            <a:endParaRPr/>
          </a:p>
          <a:p>
            <a:pPr indent="-342900" lvl="0" marL="457200" rtl="0" algn="l">
              <a:lnSpc>
                <a:spcPct val="200000"/>
              </a:lnSpc>
              <a:spcBef>
                <a:spcPts val="0"/>
              </a:spcBef>
              <a:spcAft>
                <a:spcPts val="0"/>
              </a:spcAft>
              <a:buSzPts val="1800"/>
              <a:buChar char="●"/>
            </a:pPr>
            <a:r>
              <a:rPr lang="en"/>
              <a:t>Searchable card database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Tools and Technology</a:t>
            </a:r>
            <a:endParaRPr/>
          </a:p>
        </p:txBody>
      </p:sp>
      <p:sp>
        <p:nvSpPr>
          <p:cNvPr id="78" name="Google Shape;78;p16"/>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b="1" lang="en" sz="1800"/>
              <a:t>Fronted </a:t>
            </a:r>
            <a:endParaRPr b="1" sz="1800"/>
          </a:p>
          <a:p>
            <a:pPr indent="-342900" lvl="0" marL="457200" rtl="0" algn="l">
              <a:spcBef>
                <a:spcPts val="1200"/>
              </a:spcBef>
              <a:spcAft>
                <a:spcPts val="0"/>
              </a:spcAft>
              <a:buSzPts val="1800"/>
              <a:buChar char="●"/>
            </a:pPr>
            <a:r>
              <a:rPr lang="en" sz="1800"/>
              <a:t>React </a:t>
            </a:r>
            <a:endParaRPr sz="1800"/>
          </a:p>
          <a:p>
            <a:pPr indent="-342900" lvl="0" marL="457200" rtl="0" algn="l">
              <a:spcBef>
                <a:spcPts val="0"/>
              </a:spcBef>
              <a:spcAft>
                <a:spcPts val="0"/>
              </a:spcAft>
              <a:buSzPts val="1800"/>
              <a:buChar char="●"/>
            </a:pPr>
            <a:r>
              <a:rPr lang="en" sz="1800"/>
              <a:t>NextJS</a:t>
            </a:r>
            <a:endParaRPr sz="1800"/>
          </a:p>
          <a:p>
            <a:pPr indent="0" lvl="0" marL="0" rtl="0" algn="l">
              <a:spcBef>
                <a:spcPts val="1200"/>
              </a:spcBef>
              <a:spcAft>
                <a:spcPts val="0"/>
              </a:spcAft>
              <a:buNone/>
            </a:pPr>
            <a:r>
              <a:rPr b="1" lang="en" sz="1800"/>
              <a:t>	Backend &amp; Database </a:t>
            </a:r>
            <a:endParaRPr b="1" sz="1800"/>
          </a:p>
          <a:p>
            <a:pPr indent="-342900" lvl="0" marL="457200" rtl="0" algn="l">
              <a:spcBef>
                <a:spcPts val="1200"/>
              </a:spcBef>
              <a:spcAft>
                <a:spcPts val="0"/>
              </a:spcAft>
              <a:buSzPts val="1800"/>
              <a:buChar char="●"/>
            </a:pPr>
            <a:r>
              <a:rPr lang="en" sz="1800"/>
              <a:t>Supabase</a:t>
            </a:r>
            <a:endParaRPr sz="1800"/>
          </a:p>
          <a:p>
            <a:pPr indent="0" lvl="0" marL="0" rtl="0" algn="l">
              <a:spcBef>
                <a:spcPts val="1200"/>
              </a:spcBef>
              <a:spcAft>
                <a:spcPts val="0"/>
              </a:spcAft>
              <a:buNone/>
            </a:pPr>
            <a:r>
              <a:rPr lang="en" sz="1800"/>
              <a:t>	</a:t>
            </a:r>
            <a:r>
              <a:rPr b="1" lang="en" sz="1800"/>
              <a:t>Deployment </a:t>
            </a:r>
            <a:endParaRPr b="1" sz="1800"/>
          </a:p>
          <a:p>
            <a:pPr indent="-342900" lvl="0" marL="457200" rtl="0" algn="l">
              <a:spcBef>
                <a:spcPts val="1200"/>
              </a:spcBef>
              <a:spcAft>
                <a:spcPts val="0"/>
              </a:spcAft>
              <a:buSzPts val="1800"/>
              <a:buChar char="●"/>
            </a:pPr>
            <a:r>
              <a:rPr lang="en" sz="1800"/>
              <a:t>Vercel</a:t>
            </a:r>
            <a:endParaRPr sz="1800"/>
          </a:p>
        </p:txBody>
      </p:sp>
      <p:sp>
        <p:nvSpPr>
          <p:cNvPr id="79" name="Google Shape;79;p16"/>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	Card Data Source </a:t>
            </a:r>
            <a:endParaRPr sz="100"/>
          </a:p>
          <a:p>
            <a:pPr indent="-342900" lvl="0" marL="457200" rtl="0" algn="l">
              <a:spcBef>
                <a:spcPts val="1200"/>
              </a:spcBef>
              <a:spcAft>
                <a:spcPts val="0"/>
              </a:spcAft>
              <a:buSzPts val="1800"/>
              <a:buChar char="●"/>
            </a:pPr>
            <a:r>
              <a:rPr lang="en" sz="1800"/>
              <a:t>Scryfall API</a:t>
            </a:r>
            <a:endParaRPr sz="1800"/>
          </a:p>
          <a:p>
            <a:pPr indent="0" lvl="0" marL="457200" rtl="0" algn="l">
              <a:spcBef>
                <a:spcPts val="1200"/>
              </a:spcBef>
              <a:spcAft>
                <a:spcPts val="0"/>
              </a:spcAft>
              <a:buNone/>
            </a:pPr>
            <a:r>
              <a:t/>
            </a:r>
            <a:endParaRPr sz="800"/>
          </a:p>
          <a:p>
            <a:pPr indent="0" lvl="0" marL="457200" rtl="0" algn="l">
              <a:spcBef>
                <a:spcPts val="1200"/>
              </a:spcBef>
              <a:spcAft>
                <a:spcPts val="0"/>
              </a:spcAft>
              <a:buNone/>
            </a:pPr>
            <a:r>
              <a:rPr b="1" lang="en" sz="1800"/>
              <a:t>Development </a:t>
            </a:r>
            <a:endParaRPr b="1" sz="1800"/>
          </a:p>
          <a:p>
            <a:pPr indent="-342900" lvl="0" marL="457200" rtl="0" algn="l">
              <a:spcBef>
                <a:spcPts val="1200"/>
              </a:spcBef>
              <a:spcAft>
                <a:spcPts val="0"/>
              </a:spcAft>
              <a:buSzPts val="1800"/>
              <a:buChar char="●"/>
            </a:pPr>
            <a:r>
              <a:rPr lang="en" sz="1800"/>
              <a:t>Visual Studio Code</a:t>
            </a:r>
            <a:endParaRPr sz="1800"/>
          </a:p>
          <a:p>
            <a:pPr indent="-342900" lvl="0" marL="457200" rtl="0" algn="l">
              <a:spcBef>
                <a:spcPts val="0"/>
              </a:spcBef>
              <a:spcAft>
                <a:spcPts val="0"/>
              </a:spcAft>
              <a:buSzPts val="1800"/>
              <a:buChar char="●"/>
            </a:pPr>
            <a:r>
              <a:rPr lang="en" sz="1800"/>
              <a:t>GitHub</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Login</a:t>
            </a:r>
            <a:endParaRPr/>
          </a:p>
        </p:txBody>
      </p:sp>
      <p:sp>
        <p:nvSpPr>
          <p:cNvPr id="85" name="Google Shape;85;p17"/>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Users originally navigate the site as a guest. </a:t>
            </a:r>
            <a:endParaRPr/>
          </a:p>
          <a:p>
            <a:pPr indent="0" lvl="0" marL="0" rtl="0" algn="l">
              <a:spcBef>
                <a:spcPts val="1200"/>
              </a:spcBef>
              <a:spcAft>
                <a:spcPts val="0"/>
              </a:spcAft>
              <a:buNone/>
            </a:pPr>
            <a:r>
              <a:rPr lang="en"/>
              <a:t>A login is required for certain site functions.</a:t>
            </a:r>
            <a:endParaRPr/>
          </a:p>
          <a:p>
            <a:pPr indent="-317500" lvl="0" marL="457200" rtl="0" algn="l">
              <a:spcBef>
                <a:spcPts val="1200"/>
              </a:spcBef>
              <a:spcAft>
                <a:spcPts val="0"/>
              </a:spcAft>
              <a:buSzPts val="1400"/>
              <a:buChar char="-"/>
            </a:pPr>
            <a:r>
              <a:rPr lang="en"/>
              <a:t>Cannot access Deck, Inventory, or Profile without being signed in.</a:t>
            </a:r>
            <a:endParaRPr/>
          </a:p>
          <a:p>
            <a:pPr indent="-317500" lvl="0" marL="457200" rtl="0" algn="l">
              <a:spcBef>
                <a:spcPts val="0"/>
              </a:spcBef>
              <a:spcAft>
                <a:spcPts val="0"/>
              </a:spcAft>
              <a:buSzPts val="1400"/>
              <a:buChar char="-"/>
            </a:pPr>
            <a:r>
              <a:rPr lang="en"/>
              <a:t>Profile is not displayed unless the user is signed in.</a:t>
            </a:r>
            <a:endParaRPr/>
          </a:p>
          <a:p>
            <a:pPr indent="0" lvl="0" marL="0" rtl="0" algn="l">
              <a:spcBef>
                <a:spcPts val="1200"/>
              </a:spcBef>
              <a:spcAft>
                <a:spcPts val="0"/>
              </a:spcAft>
              <a:buNone/>
            </a:pPr>
            <a:r>
              <a:rPr lang="en"/>
              <a:t>A login button will be visible when the user is not signed in. </a:t>
            </a:r>
            <a:endParaRPr/>
          </a:p>
          <a:p>
            <a:pPr indent="-317500" lvl="0" marL="457200" rtl="0" algn="l">
              <a:spcBef>
                <a:spcPts val="1200"/>
              </a:spcBef>
              <a:spcAft>
                <a:spcPts val="0"/>
              </a:spcAft>
              <a:buSzPts val="1400"/>
              <a:buChar char="-"/>
            </a:pPr>
            <a:r>
              <a:rPr lang="en"/>
              <a:t>Profile </a:t>
            </a:r>
            <a:r>
              <a:rPr lang="en"/>
              <a:t>avatar otherwise.</a:t>
            </a:r>
            <a:endParaRPr/>
          </a:p>
        </p:txBody>
      </p:sp>
      <p:sp>
        <p:nvSpPr>
          <p:cNvPr id="86" name="Google Shape;86;p17"/>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Login is initiated depending on site navigation. </a:t>
            </a:r>
            <a:endParaRPr/>
          </a:p>
          <a:p>
            <a:pPr indent="-317500" lvl="0" marL="457200" rtl="0" algn="l">
              <a:spcBef>
                <a:spcPts val="1200"/>
              </a:spcBef>
              <a:spcAft>
                <a:spcPts val="0"/>
              </a:spcAft>
              <a:buSzPts val="1400"/>
              <a:buChar char="-"/>
            </a:pPr>
            <a:r>
              <a:rPr lang="en"/>
              <a:t>Trying to access Deck or Inventory will redirect to sign-in. </a:t>
            </a:r>
            <a:endParaRPr/>
          </a:p>
          <a:p>
            <a:pPr indent="-317500" lvl="0" marL="457200" rtl="0" algn="l">
              <a:spcBef>
                <a:spcPts val="0"/>
              </a:spcBef>
              <a:spcAft>
                <a:spcPts val="0"/>
              </a:spcAft>
              <a:buSzPts val="1400"/>
              <a:buChar char="-"/>
            </a:pPr>
            <a:r>
              <a:rPr lang="en"/>
              <a:t>Upon success, the user will be redirected to the appropriate page. </a:t>
            </a:r>
            <a:endParaRPr/>
          </a:p>
          <a:p>
            <a:pPr indent="-317500" lvl="0" marL="457200" rtl="0" algn="l">
              <a:spcBef>
                <a:spcPts val="0"/>
              </a:spcBef>
              <a:spcAft>
                <a:spcPts val="0"/>
              </a:spcAft>
              <a:buSzPts val="1400"/>
              <a:buChar char="-"/>
            </a:pPr>
            <a:r>
              <a:rPr lang="en"/>
              <a:t>On fail, the user is prompted to try again.</a:t>
            </a:r>
            <a:endParaRPr/>
          </a:p>
          <a:p>
            <a:pPr indent="-317500" lvl="0" marL="457200" rtl="0" algn="l">
              <a:spcBef>
                <a:spcPts val="0"/>
              </a:spcBef>
              <a:spcAft>
                <a:spcPts val="0"/>
              </a:spcAft>
              <a:buSzPts val="1400"/>
              <a:buChar char="-"/>
            </a:pPr>
            <a:r>
              <a:rPr lang="en"/>
              <a:t>On cancel, the user is taken back to the homepage. </a:t>
            </a:r>
            <a:endParaRPr/>
          </a:p>
          <a:p>
            <a:pPr indent="0" lvl="0" marL="0" rtl="0" algn="l">
              <a:spcBef>
                <a:spcPts val="1200"/>
              </a:spcBef>
              <a:spcAft>
                <a:spcPts val="0"/>
              </a:spcAft>
              <a:buNone/>
            </a:pPr>
            <a:r>
              <a:rPr lang="en"/>
              <a:t>Supabase will be used to allow account creation with a Google login. </a:t>
            </a:r>
            <a:endParaRPr/>
          </a:p>
          <a:p>
            <a:pPr indent="-317500" lvl="0" marL="457200" rtl="0" algn="l">
              <a:spcBef>
                <a:spcPts val="1200"/>
              </a:spcBef>
              <a:spcAft>
                <a:spcPts val="0"/>
              </a:spcAft>
              <a:buSzPts val="1400"/>
              <a:buChar char="-"/>
            </a:pPr>
            <a:r>
              <a:rPr lang="en"/>
              <a:t>Handles all authentication for us.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Home/Search Page</a:t>
            </a:r>
            <a:endParaRPr/>
          </a:p>
        </p:txBody>
      </p:sp>
      <p:sp>
        <p:nvSpPr>
          <p:cNvPr id="92" name="Google Shape;92;p18"/>
          <p:cNvSpPr txBox="1"/>
          <p:nvPr>
            <p:ph idx="1" type="body"/>
          </p:nvPr>
        </p:nvSpPr>
        <p:spPr>
          <a:xfrm>
            <a:off x="311700" y="1171675"/>
            <a:ext cx="3999900" cy="3397200"/>
          </a:xfrm>
          <a:prstGeom prst="rect">
            <a:avLst/>
          </a:prstGeom>
        </p:spPr>
        <p:txBody>
          <a:bodyPr anchorCtr="0" anchor="t" bIns="91425" lIns="91425" spcFirstLastPara="1" rIns="91425" wrap="square" tIns="91425">
            <a:normAutofit fontScale="25000"/>
          </a:bodyPr>
          <a:lstStyle/>
          <a:p>
            <a:pPr indent="0" lvl="0" marL="0" rtl="0" algn="l">
              <a:spcBef>
                <a:spcPts val="0"/>
              </a:spcBef>
              <a:spcAft>
                <a:spcPts val="0"/>
              </a:spcAft>
              <a:buClr>
                <a:schemeClr val="dk1"/>
              </a:buClr>
              <a:buSzPts val="275"/>
              <a:buFont typeface="Arial"/>
              <a:buNone/>
            </a:pPr>
            <a:r>
              <a:rPr b="1" lang="en" sz="4771"/>
              <a:t>Includes Navigation Bar</a:t>
            </a:r>
            <a:endParaRPr b="1" sz="4771"/>
          </a:p>
          <a:p>
            <a:pPr indent="-304341" lvl="0" marL="457200" rtl="0" algn="l">
              <a:spcBef>
                <a:spcPts val="1200"/>
              </a:spcBef>
              <a:spcAft>
                <a:spcPts val="0"/>
              </a:spcAft>
              <a:buSzPct val="100000"/>
              <a:buChar char="●"/>
            </a:pPr>
            <a:r>
              <a:rPr lang="en" sz="4771"/>
              <a:t>(See Section 3 for Navigation Bar details)</a:t>
            </a:r>
            <a:br>
              <a:rPr lang="en" sz="4771"/>
            </a:br>
            <a:endParaRPr sz="4771"/>
          </a:p>
          <a:p>
            <a:pPr indent="0" lvl="0" marL="0" rtl="0" algn="l">
              <a:spcBef>
                <a:spcPts val="1200"/>
              </a:spcBef>
              <a:spcAft>
                <a:spcPts val="0"/>
              </a:spcAft>
              <a:buClr>
                <a:schemeClr val="dk1"/>
              </a:buClr>
              <a:buSzPts val="275"/>
              <a:buFont typeface="Arial"/>
              <a:buNone/>
            </a:pPr>
            <a:r>
              <a:rPr b="1" lang="en" sz="4771"/>
              <a:t>Displays cards</a:t>
            </a:r>
            <a:endParaRPr b="1" sz="4771"/>
          </a:p>
          <a:p>
            <a:pPr indent="0" lvl="0" marL="0" rtl="0" algn="l">
              <a:spcBef>
                <a:spcPts val="0"/>
              </a:spcBef>
              <a:spcAft>
                <a:spcPts val="0"/>
              </a:spcAft>
              <a:buClr>
                <a:schemeClr val="dk1"/>
              </a:buClr>
              <a:buSzPts val="275"/>
              <a:buFont typeface="Arial"/>
              <a:buNone/>
            </a:pPr>
            <a:r>
              <a:t/>
            </a:r>
            <a:endParaRPr b="1" sz="4771"/>
          </a:p>
          <a:p>
            <a:pPr indent="-304341" lvl="0" marL="457200" rtl="0" algn="l">
              <a:spcBef>
                <a:spcPts val="0"/>
              </a:spcBef>
              <a:spcAft>
                <a:spcPts val="0"/>
              </a:spcAft>
              <a:buSzPct val="100000"/>
              <a:buChar char="●"/>
            </a:pPr>
            <a:r>
              <a:rPr lang="en" sz="4771"/>
              <a:t>Displayed as images. </a:t>
            </a:r>
            <a:endParaRPr sz="4771"/>
          </a:p>
          <a:p>
            <a:pPr indent="-304341" lvl="0" marL="457200" rtl="0" algn="l">
              <a:spcBef>
                <a:spcPts val="0"/>
              </a:spcBef>
              <a:spcAft>
                <a:spcPts val="0"/>
              </a:spcAft>
              <a:buSzPct val="100000"/>
              <a:buChar char="●"/>
            </a:pPr>
            <a:r>
              <a:rPr lang="en" sz="4771"/>
              <a:t>Initially sorted alphabetically</a:t>
            </a:r>
            <a:endParaRPr sz="4771"/>
          </a:p>
          <a:p>
            <a:pPr indent="-304341" lvl="0" marL="457200" rtl="0" algn="l">
              <a:spcBef>
                <a:spcPts val="0"/>
              </a:spcBef>
              <a:spcAft>
                <a:spcPts val="0"/>
              </a:spcAft>
              <a:buSzPct val="100000"/>
              <a:buChar char="●"/>
            </a:pPr>
            <a:r>
              <a:rPr lang="en" sz="4771"/>
              <a:t>Displayed in sections of 50</a:t>
            </a:r>
            <a:endParaRPr sz="4771"/>
          </a:p>
          <a:p>
            <a:pPr indent="-304341" lvl="0" marL="457200" rtl="0" algn="l">
              <a:spcBef>
                <a:spcPts val="0"/>
              </a:spcBef>
              <a:spcAft>
                <a:spcPts val="0"/>
              </a:spcAft>
              <a:buSzPct val="100000"/>
              <a:buChar char="●"/>
            </a:pPr>
            <a:r>
              <a:rPr lang="en" sz="4771"/>
              <a:t>Users can scroll through displayed cards</a:t>
            </a:r>
            <a:br>
              <a:rPr b="1" lang="en" sz="4771"/>
            </a:br>
            <a:endParaRPr b="1" sz="4771"/>
          </a:p>
          <a:p>
            <a:pPr indent="0" lvl="0" marL="0" rtl="0" algn="l">
              <a:spcBef>
                <a:spcPts val="1200"/>
              </a:spcBef>
              <a:spcAft>
                <a:spcPts val="0"/>
              </a:spcAft>
              <a:buClr>
                <a:schemeClr val="dk1"/>
              </a:buClr>
              <a:buSzPts val="275"/>
              <a:buFont typeface="Arial"/>
              <a:buNone/>
            </a:pPr>
            <a:r>
              <a:rPr b="1" lang="en" sz="4771"/>
              <a:t>Selecting a card opens the Card Information Page</a:t>
            </a:r>
            <a:endParaRPr sz="4771"/>
          </a:p>
          <a:p>
            <a:pPr indent="-304341" lvl="0" marL="457200" rtl="0" algn="l">
              <a:spcBef>
                <a:spcPts val="1200"/>
              </a:spcBef>
              <a:spcAft>
                <a:spcPts val="0"/>
              </a:spcAft>
              <a:buSzPct val="100000"/>
              <a:buChar char="●"/>
            </a:pPr>
            <a:r>
              <a:rPr lang="en" sz="4771"/>
              <a:t>(See Section 8 for Card Information Page details</a:t>
            </a:r>
            <a:r>
              <a:rPr lang="en" sz="4771"/>
              <a:t>)</a:t>
            </a:r>
            <a:endParaRPr/>
          </a:p>
        </p:txBody>
      </p:sp>
      <p:sp>
        <p:nvSpPr>
          <p:cNvPr id="93" name="Google Shape;93;p18"/>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770"/>
              <a:buFont typeface="Arial"/>
              <a:buNone/>
            </a:pPr>
            <a:r>
              <a:rPr b="1" lang="en" sz="1260"/>
              <a:t>Filtering options available</a:t>
            </a:r>
            <a:br>
              <a:rPr lang="en" sz="1260"/>
            </a:br>
            <a:endParaRPr sz="1260"/>
          </a:p>
          <a:p>
            <a:pPr indent="-308610" lvl="0" marL="457200" rtl="0" algn="l">
              <a:lnSpc>
                <a:spcPct val="105000"/>
              </a:lnSpc>
              <a:spcBef>
                <a:spcPts val="1200"/>
              </a:spcBef>
              <a:spcAft>
                <a:spcPts val="0"/>
              </a:spcAft>
              <a:buSzPts val="1260"/>
              <a:buChar char="●"/>
            </a:pPr>
            <a:r>
              <a:rPr lang="en" sz="1260"/>
              <a:t>(See Search Function for details)</a:t>
            </a:r>
            <a:br>
              <a:rPr lang="en" sz="1260"/>
            </a:br>
            <a:endParaRPr sz="1260"/>
          </a:p>
          <a:p>
            <a:pPr indent="0" lvl="0" marL="0" rtl="0" algn="l">
              <a:lnSpc>
                <a:spcPct val="105000"/>
              </a:lnSpc>
              <a:spcBef>
                <a:spcPts val="1200"/>
              </a:spcBef>
              <a:spcAft>
                <a:spcPts val="0"/>
              </a:spcAft>
              <a:buClr>
                <a:schemeClr val="dk1"/>
              </a:buClr>
              <a:buSzPts val="770"/>
              <a:buFont typeface="Arial"/>
              <a:buNone/>
            </a:pPr>
            <a:r>
              <a:rPr b="1" lang="en" sz="1260"/>
              <a:t>Loading behavior:</a:t>
            </a:r>
            <a:br>
              <a:rPr b="1" lang="en" sz="1260"/>
            </a:br>
            <a:endParaRPr b="1" sz="1260"/>
          </a:p>
          <a:p>
            <a:pPr indent="-308610" lvl="0" marL="457200" rtl="0" algn="l">
              <a:lnSpc>
                <a:spcPct val="105000"/>
              </a:lnSpc>
              <a:spcBef>
                <a:spcPts val="1200"/>
              </a:spcBef>
              <a:spcAft>
                <a:spcPts val="0"/>
              </a:spcAft>
              <a:buSzPts val="1260"/>
              <a:buChar char="●"/>
            </a:pPr>
            <a:r>
              <a:rPr lang="en" sz="1260"/>
              <a:t>Displays loading indicator while retrieving data</a:t>
            </a:r>
            <a:br>
              <a:rPr lang="en" sz="1260"/>
            </a:br>
            <a:endParaRPr sz="1260"/>
          </a:p>
          <a:p>
            <a:pPr indent="0" lvl="0" marL="0" rtl="0" algn="l">
              <a:lnSpc>
                <a:spcPct val="105000"/>
              </a:lnSpc>
              <a:spcBef>
                <a:spcPts val="1200"/>
              </a:spcBef>
              <a:spcAft>
                <a:spcPts val="0"/>
              </a:spcAft>
              <a:buClr>
                <a:schemeClr val="dk1"/>
              </a:buClr>
              <a:buSzPts val="770"/>
              <a:buFont typeface="Arial"/>
              <a:buNone/>
            </a:pPr>
            <a:r>
              <a:rPr b="1" lang="en" sz="1260"/>
              <a:t>Failure behavior:</a:t>
            </a:r>
            <a:br>
              <a:rPr b="1" lang="en" sz="1260"/>
            </a:br>
            <a:endParaRPr b="1" sz="1260"/>
          </a:p>
          <a:p>
            <a:pPr indent="-308610" lvl="0" marL="457200" rtl="0" algn="l">
              <a:lnSpc>
                <a:spcPct val="105000"/>
              </a:lnSpc>
              <a:spcBef>
                <a:spcPts val="1200"/>
              </a:spcBef>
              <a:spcAft>
                <a:spcPts val="0"/>
              </a:spcAft>
              <a:buSzPts val="1260"/>
              <a:buChar char="●"/>
            </a:pPr>
            <a:r>
              <a:rPr lang="en" sz="1260"/>
              <a:t>If the Scryfall API request fails, an error message is displayed</a:t>
            </a:r>
            <a:endParaRPr sz="98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Navigation Bar</a:t>
            </a:r>
            <a:endParaRPr/>
          </a:p>
        </p:txBody>
      </p:sp>
      <p:sp>
        <p:nvSpPr>
          <p:cNvPr id="99" name="Google Shape;99;p19"/>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228600" lvl="0" marL="457200" rtl="0" algn="l">
              <a:lnSpc>
                <a:spcPct val="105000"/>
              </a:lnSpc>
              <a:spcBef>
                <a:spcPts val="0"/>
              </a:spcBef>
              <a:spcAft>
                <a:spcPts val="0"/>
              </a:spcAft>
              <a:buSzPts val="523"/>
              <a:buNone/>
            </a:pPr>
            <a:r>
              <a:rPr b="1" lang="en" sz="1122"/>
              <a:t>Search Bar</a:t>
            </a:r>
            <a:br>
              <a:rPr b="1" lang="en" sz="1122"/>
            </a:br>
            <a:endParaRPr b="1" sz="1122"/>
          </a:p>
          <a:p>
            <a:pPr indent="-299878" lvl="0" marL="457200" rtl="0" algn="l">
              <a:lnSpc>
                <a:spcPct val="105000"/>
              </a:lnSpc>
              <a:spcBef>
                <a:spcPts val="1200"/>
              </a:spcBef>
              <a:spcAft>
                <a:spcPts val="0"/>
              </a:spcAft>
              <a:buSzPts val="1123"/>
              <a:buFont typeface="Old Standard TT"/>
              <a:buChar char="●"/>
            </a:pPr>
            <a:r>
              <a:rPr lang="en" sz="1122"/>
              <a:t>Input box for searching</a:t>
            </a:r>
            <a:br>
              <a:rPr lang="en" sz="1122"/>
            </a:br>
            <a:endParaRPr sz="1122"/>
          </a:p>
          <a:p>
            <a:pPr indent="-299878" lvl="0" marL="457200" rtl="0" algn="l">
              <a:lnSpc>
                <a:spcPct val="105000"/>
              </a:lnSpc>
              <a:spcBef>
                <a:spcPts val="0"/>
              </a:spcBef>
              <a:spcAft>
                <a:spcPts val="0"/>
              </a:spcAft>
              <a:buSzPts val="1123"/>
              <a:buFont typeface="Old Standard TT"/>
              <a:buChar char="●"/>
            </a:pPr>
            <a:r>
              <a:rPr lang="en" sz="1122"/>
              <a:t>(See Search Function for details)</a:t>
            </a:r>
            <a:br>
              <a:rPr lang="en" sz="1122"/>
            </a:br>
            <a:endParaRPr sz="1122"/>
          </a:p>
          <a:p>
            <a:pPr indent="0" lvl="0" marL="0" rtl="0" algn="l">
              <a:lnSpc>
                <a:spcPct val="105000"/>
              </a:lnSpc>
              <a:spcBef>
                <a:spcPts val="1200"/>
              </a:spcBef>
              <a:spcAft>
                <a:spcPts val="0"/>
              </a:spcAft>
              <a:buSzPts val="523"/>
              <a:buNone/>
            </a:pPr>
            <a:r>
              <a:rPr b="1" lang="en" sz="1122"/>
              <a:t>Profile Icon (User Avatar)</a:t>
            </a:r>
            <a:br>
              <a:rPr b="1" lang="en" sz="1122"/>
            </a:br>
            <a:endParaRPr b="1" sz="1122"/>
          </a:p>
          <a:p>
            <a:pPr indent="-299878" lvl="0" marL="457200" rtl="0" algn="l">
              <a:lnSpc>
                <a:spcPct val="105000"/>
              </a:lnSpc>
              <a:spcBef>
                <a:spcPts val="1200"/>
              </a:spcBef>
              <a:spcAft>
                <a:spcPts val="0"/>
              </a:spcAft>
              <a:buSzPts val="1123"/>
              <a:buFont typeface="Old Standard TT"/>
              <a:buChar char="●"/>
            </a:pPr>
            <a:r>
              <a:rPr lang="en" sz="1122"/>
              <a:t>Opens dropdown menu</a:t>
            </a:r>
            <a:br>
              <a:rPr lang="en" sz="1122"/>
            </a:br>
            <a:endParaRPr sz="1122"/>
          </a:p>
          <a:p>
            <a:pPr indent="-299878" lvl="0" marL="457200" rtl="0" algn="l">
              <a:lnSpc>
                <a:spcPct val="105000"/>
              </a:lnSpc>
              <a:spcBef>
                <a:spcPts val="0"/>
              </a:spcBef>
              <a:spcAft>
                <a:spcPts val="0"/>
              </a:spcAft>
              <a:buSzPts val="1123"/>
              <a:buFont typeface="Old Standard TT"/>
              <a:buChar char="●"/>
            </a:pPr>
            <a:r>
              <a:rPr lang="en" sz="1122"/>
              <a:t>Profile Settings → Opens Profile Page</a:t>
            </a:r>
            <a:br>
              <a:rPr lang="en" sz="1122"/>
            </a:br>
            <a:endParaRPr sz="1122"/>
          </a:p>
          <a:p>
            <a:pPr indent="-299878" lvl="0" marL="457200" rtl="0" algn="l">
              <a:lnSpc>
                <a:spcPct val="105000"/>
              </a:lnSpc>
              <a:spcBef>
                <a:spcPts val="0"/>
              </a:spcBef>
              <a:spcAft>
                <a:spcPts val="0"/>
              </a:spcAft>
              <a:buSzPts val="1123"/>
              <a:buFont typeface="Old Standard TT"/>
              <a:buChar char="●"/>
            </a:pPr>
            <a:r>
              <a:rPr lang="en" sz="1122"/>
              <a:t>Log Out → Confirmation pop-up</a:t>
            </a:r>
            <a:br>
              <a:rPr lang="en" sz="1122"/>
            </a:br>
            <a:endParaRPr sz="1122"/>
          </a:p>
          <a:p>
            <a:pPr indent="-299878" lvl="1" marL="914400" rtl="0" algn="l">
              <a:lnSpc>
                <a:spcPct val="105000"/>
              </a:lnSpc>
              <a:spcBef>
                <a:spcPts val="0"/>
              </a:spcBef>
              <a:spcAft>
                <a:spcPts val="0"/>
              </a:spcAft>
              <a:buSzPts val="1123"/>
              <a:buFont typeface="Old Standard TT"/>
              <a:buChar char="○"/>
            </a:pPr>
            <a:r>
              <a:rPr lang="en" sz="1122"/>
              <a:t>“No” cancels</a:t>
            </a:r>
            <a:br>
              <a:rPr lang="en" sz="1122"/>
            </a:br>
            <a:endParaRPr sz="1122"/>
          </a:p>
          <a:p>
            <a:pPr indent="-299878" lvl="1" marL="914400" rtl="0" algn="l">
              <a:lnSpc>
                <a:spcPct val="105000"/>
              </a:lnSpc>
              <a:spcBef>
                <a:spcPts val="0"/>
              </a:spcBef>
              <a:spcAft>
                <a:spcPts val="0"/>
              </a:spcAft>
              <a:buSzPts val="1123"/>
              <a:buFont typeface="Old Standard TT"/>
              <a:buChar char="○"/>
            </a:pPr>
            <a:r>
              <a:rPr lang="en" sz="1122"/>
              <a:t>“Yes” logs out → Returns to Homepage</a:t>
            </a:r>
            <a:endParaRPr sz="1455"/>
          </a:p>
        </p:txBody>
      </p:sp>
      <p:sp>
        <p:nvSpPr>
          <p:cNvPr id="100" name="Google Shape;100;p19"/>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lnSpcReduction="10000"/>
          </a:bodyPr>
          <a:lstStyle/>
          <a:p>
            <a:pPr indent="0" lvl="0" marL="0" rtl="0" algn="l">
              <a:lnSpc>
                <a:spcPct val="105000"/>
              </a:lnSpc>
              <a:spcBef>
                <a:spcPts val="0"/>
              </a:spcBef>
              <a:spcAft>
                <a:spcPts val="0"/>
              </a:spcAft>
              <a:buClr>
                <a:schemeClr val="dk1"/>
              </a:buClr>
              <a:buSzPts val="523"/>
              <a:buFont typeface="Arial"/>
              <a:buNone/>
            </a:pPr>
            <a:r>
              <a:rPr b="1" lang="en" sz="1222"/>
              <a:t>Deck Button</a:t>
            </a:r>
            <a:br>
              <a:rPr b="1" lang="en" sz="1222"/>
            </a:br>
            <a:endParaRPr b="1" sz="1222"/>
          </a:p>
          <a:p>
            <a:pPr indent="-306228" lvl="0" marL="457200" rtl="0" algn="l">
              <a:lnSpc>
                <a:spcPct val="105000"/>
              </a:lnSpc>
              <a:spcBef>
                <a:spcPts val="1200"/>
              </a:spcBef>
              <a:spcAft>
                <a:spcPts val="0"/>
              </a:spcAft>
              <a:buSzPts val="1223"/>
              <a:buFont typeface="Old Standard TT"/>
              <a:buChar char="●"/>
            </a:pPr>
            <a:r>
              <a:rPr lang="en" sz="1222"/>
              <a:t>Navigates to Deck Page</a:t>
            </a:r>
            <a:br>
              <a:rPr lang="en" sz="1222"/>
            </a:br>
            <a:endParaRPr sz="1222"/>
          </a:p>
          <a:p>
            <a:pPr indent="0" lvl="0" marL="0" rtl="0" algn="l">
              <a:lnSpc>
                <a:spcPct val="105000"/>
              </a:lnSpc>
              <a:spcBef>
                <a:spcPts val="1200"/>
              </a:spcBef>
              <a:spcAft>
                <a:spcPts val="0"/>
              </a:spcAft>
              <a:buClr>
                <a:schemeClr val="dk1"/>
              </a:buClr>
              <a:buSzPts val="523"/>
              <a:buFont typeface="Arial"/>
              <a:buNone/>
            </a:pPr>
            <a:r>
              <a:rPr b="1" lang="en" sz="1222"/>
              <a:t>Inventory Button</a:t>
            </a:r>
            <a:br>
              <a:rPr b="1" lang="en" sz="1222"/>
            </a:br>
            <a:endParaRPr b="1" sz="1222"/>
          </a:p>
          <a:p>
            <a:pPr indent="-306228" lvl="0" marL="457200" rtl="0" algn="l">
              <a:lnSpc>
                <a:spcPct val="105000"/>
              </a:lnSpc>
              <a:spcBef>
                <a:spcPts val="1200"/>
              </a:spcBef>
              <a:spcAft>
                <a:spcPts val="0"/>
              </a:spcAft>
              <a:buSzPts val="1223"/>
              <a:buFont typeface="Old Standard TT"/>
              <a:buChar char="●"/>
            </a:pPr>
            <a:r>
              <a:rPr lang="en" sz="1222"/>
              <a:t>Navigates to Inventory Page</a:t>
            </a:r>
            <a:endParaRPr sz="1222"/>
          </a:p>
          <a:p>
            <a:pPr indent="0" lvl="0" marL="0" rtl="0" algn="l">
              <a:lnSpc>
                <a:spcPct val="105000"/>
              </a:lnSpc>
              <a:spcBef>
                <a:spcPts val="1200"/>
              </a:spcBef>
              <a:spcAft>
                <a:spcPts val="0"/>
              </a:spcAft>
              <a:buNone/>
            </a:pPr>
            <a:r>
              <a:rPr b="1" lang="en" sz="1222"/>
              <a:t>Home Button</a:t>
            </a:r>
            <a:endParaRPr b="1" sz="1222"/>
          </a:p>
          <a:p>
            <a:pPr indent="-306228" lvl="0" marL="457200" rtl="0" algn="l">
              <a:lnSpc>
                <a:spcPct val="105000"/>
              </a:lnSpc>
              <a:spcBef>
                <a:spcPts val="1200"/>
              </a:spcBef>
              <a:spcAft>
                <a:spcPts val="0"/>
              </a:spcAft>
              <a:buSzPts val="1223"/>
              <a:buChar char="●"/>
            </a:pPr>
            <a:r>
              <a:rPr lang="en" sz="1222"/>
              <a:t>Navigates to the Homepage.</a:t>
            </a:r>
            <a:endParaRPr sz="1222"/>
          </a:p>
          <a:p>
            <a:pPr indent="0" lvl="0" marL="0" rtl="0" algn="l">
              <a:lnSpc>
                <a:spcPct val="105000"/>
              </a:lnSpc>
              <a:spcBef>
                <a:spcPts val="1200"/>
              </a:spcBef>
              <a:spcAft>
                <a:spcPts val="0"/>
              </a:spcAft>
              <a:buNone/>
            </a:pPr>
            <a:r>
              <a:rPr b="1" lang="en" sz="1222"/>
              <a:t>If User is Logged out</a:t>
            </a:r>
            <a:endParaRPr b="1" sz="1222"/>
          </a:p>
          <a:p>
            <a:pPr indent="-306228" lvl="0" marL="457200" rtl="0" algn="l">
              <a:lnSpc>
                <a:spcPct val="105000"/>
              </a:lnSpc>
              <a:spcBef>
                <a:spcPts val="1200"/>
              </a:spcBef>
              <a:spcAft>
                <a:spcPts val="0"/>
              </a:spcAft>
              <a:buSzPts val="1223"/>
              <a:buChar char="●"/>
            </a:pPr>
            <a:r>
              <a:rPr lang="en" sz="1222"/>
              <a:t>Clicking any button will bring them to the login page.</a:t>
            </a:r>
            <a:endParaRPr sz="1222"/>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Search Function</a:t>
            </a:r>
            <a:endParaRPr/>
          </a:p>
        </p:txBody>
      </p:sp>
      <p:sp>
        <p:nvSpPr>
          <p:cNvPr id="106" name="Google Shape;106;p20"/>
          <p:cNvSpPr txBox="1"/>
          <p:nvPr>
            <p:ph idx="1" type="body"/>
          </p:nvPr>
        </p:nvSpPr>
        <p:spPr>
          <a:xfrm>
            <a:off x="311700" y="1171600"/>
            <a:ext cx="3402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search function is core to our project and exists in three main forms depending on where you access it from.</a:t>
            </a:r>
            <a:endParaRPr/>
          </a:p>
        </p:txBody>
      </p:sp>
      <p:sp>
        <p:nvSpPr>
          <p:cNvPr id="107" name="Google Shape;107;p20"/>
          <p:cNvSpPr txBox="1"/>
          <p:nvPr/>
        </p:nvSpPr>
        <p:spPr>
          <a:xfrm>
            <a:off x="4317275" y="178650"/>
            <a:ext cx="4674600" cy="471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Old Standard TT"/>
                <a:ea typeface="Old Standard TT"/>
                <a:cs typeface="Old Standard TT"/>
                <a:sym typeface="Old Standard TT"/>
              </a:rPr>
              <a:t>Search Page</a:t>
            </a:r>
            <a:endParaRPr b="1"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Most advanced, contains several filter options</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Search function is on a collapsable menu</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Several Cards are displayed at once</a:t>
            </a:r>
            <a:endParaRPr sz="18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b="1"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b="1" lang="en" sz="1800">
                <a:solidFill>
                  <a:schemeClr val="dk1"/>
                </a:solidFill>
                <a:latin typeface="Old Standard TT"/>
                <a:ea typeface="Old Standard TT"/>
                <a:cs typeface="Old Standard TT"/>
                <a:sym typeface="Old Standard TT"/>
              </a:rPr>
              <a:t>Card Info Page</a:t>
            </a:r>
            <a:endParaRPr b="1"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Search function contained in the navbar</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Allows for the searching of a card by name only</a:t>
            </a:r>
            <a:endParaRPr sz="18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b="1"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b="1" lang="en" sz="1800">
                <a:solidFill>
                  <a:schemeClr val="dk1"/>
                </a:solidFill>
                <a:latin typeface="Old Standard TT"/>
                <a:ea typeface="Old Standard TT"/>
                <a:cs typeface="Old Standard TT"/>
                <a:sym typeface="Old Standard TT"/>
              </a:rPr>
              <a:t>Deck Display Page</a:t>
            </a:r>
            <a:endParaRPr b="1"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Search is contained in the navbar</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Searches by name</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Quickly adds the card to the deck but not the inventory.</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Inventory</a:t>
            </a:r>
            <a:endParaRPr/>
          </a:p>
        </p:txBody>
      </p:sp>
      <p:sp>
        <p:nvSpPr>
          <p:cNvPr id="113" name="Google Shape;113;p21"/>
          <p:cNvSpPr txBox="1"/>
          <p:nvPr>
            <p:ph idx="1" type="body"/>
          </p:nvPr>
        </p:nvSpPr>
        <p:spPr>
          <a:xfrm>
            <a:off x="386150" y="1201375"/>
            <a:ext cx="6789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utilizes the search page for its operation. The key difference is the source of the data, by default the search page accesses the entire database but the inventory will only display what the user has added to their collection. Decks are displayed here as well, but the deck page itself is a subsection of the inventory utilizing another restriction.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The user can access </a:t>
            </a:r>
            <a:r>
              <a:rPr lang="en"/>
              <a:t>their</a:t>
            </a:r>
            <a:r>
              <a:rPr lang="en"/>
              <a:t> </a:t>
            </a:r>
            <a:r>
              <a:rPr lang="en"/>
              <a:t>inventory from the navbar.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Deck Page</a:t>
            </a:r>
            <a:endParaRPr/>
          </a:p>
        </p:txBody>
      </p:sp>
      <p:sp>
        <p:nvSpPr>
          <p:cNvPr id="119" name="Google Shape;119;p22"/>
          <p:cNvSpPr txBox="1"/>
          <p:nvPr>
            <p:ph idx="1" type="body"/>
          </p:nvPr>
        </p:nvSpPr>
        <p:spPr>
          <a:xfrm>
            <a:off x="311700" y="1171600"/>
            <a:ext cx="53481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page will allow users to view their </a:t>
            </a:r>
            <a:r>
              <a:rPr lang="en"/>
              <a:t>decks</a:t>
            </a:r>
            <a:r>
              <a:rPr lang="en"/>
              <a:t> as stacks of cards sorted by category</a:t>
            </a:r>
            <a:endParaRPr/>
          </a:p>
          <a:p>
            <a:pPr indent="-342900" lvl="0" marL="457200" rtl="0" algn="l">
              <a:spcBef>
                <a:spcPts val="1200"/>
              </a:spcBef>
              <a:spcAft>
                <a:spcPts val="0"/>
              </a:spcAft>
              <a:buSzPts val="1800"/>
              <a:buChar char="●"/>
            </a:pPr>
            <a:r>
              <a:rPr lang="en"/>
              <a:t>By default the category is the same as their first card type</a:t>
            </a:r>
            <a:endParaRPr/>
          </a:p>
          <a:p>
            <a:pPr indent="-342900" lvl="0" marL="457200" rtl="0" algn="l">
              <a:spcBef>
                <a:spcPts val="0"/>
              </a:spcBef>
              <a:spcAft>
                <a:spcPts val="0"/>
              </a:spcAft>
              <a:buSzPts val="1800"/>
              <a:buChar char="●"/>
            </a:pPr>
            <a:r>
              <a:rPr lang="en"/>
              <a:t>Users can assign a card to a different </a:t>
            </a:r>
            <a:r>
              <a:rPr lang="en"/>
              <a:t>pre labelled</a:t>
            </a:r>
            <a:r>
              <a:rPr lang="en"/>
              <a:t> category such as, draw, removal or stax.</a:t>
            </a:r>
            <a:endParaRPr/>
          </a:p>
          <a:p>
            <a:pPr indent="0" lvl="0" marL="0" rtl="0" algn="l">
              <a:spcBef>
                <a:spcPts val="1200"/>
              </a:spcBef>
              <a:spcAft>
                <a:spcPts val="1200"/>
              </a:spcAft>
              <a:buNone/>
            </a:pPr>
            <a:r>
              <a:rPr lang="en"/>
              <a:t>This page will also provide a small summary of the </a:t>
            </a:r>
            <a:r>
              <a:rPr lang="en"/>
              <a:t>decks contents.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Card Information Page</a:t>
            </a:r>
            <a:endParaRPr/>
          </a:p>
        </p:txBody>
      </p:sp>
      <p:sp>
        <p:nvSpPr>
          <p:cNvPr id="125" name="Google Shape;125;p23"/>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Displays high-resolution card image</a:t>
            </a:r>
            <a:br>
              <a:rPr lang="en"/>
            </a:br>
            <a:endParaRPr/>
          </a:p>
          <a:p>
            <a:pPr indent="-317500" lvl="0" marL="457200" rtl="0" algn="l">
              <a:spcBef>
                <a:spcPts val="1200"/>
              </a:spcBef>
              <a:spcAft>
                <a:spcPts val="0"/>
              </a:spcAft>
              <a:buSzPts val="1400"/>
              <a:buFont typeface="Old Standard TT"/>
              <a:buChar char="●"/>
            </a:pPr>
            <a:r>
              <a:rPr lang="en"/>
              <a:t>Displays user ownership data:</a:t>
            </a:r>
            <a:br>
              <a:rPr lang="en"/>
            </a:br>
            <a:endParaRPr/>
          </a:p>
          <a:p>
            <a:pPr indent="-317500" lvl="1" marL="914400" rtl="0" algn="l">
              <a:spcBef>
                <a:spcPts val="0"/>
              </a:spcBef>
              <a:spcAft>
                <a:spcPts val="0"/>
              </a:spcAft>
              <a:buSzPts val="1400"/>
              <a:buFont typeface="Old Standard TT"/>
              <a:buChar char="○"/>
            </a:pPr>
            <a:r>
              <a:rPr lang="en" sz="1400"/>
              <a:t>Quantity owned</a:t>
            </a:r>
            <a:br>
              <a:rPr lang="en" sz="1400"/>
            </a:br>
            <a:endParaRPr sz="1400"/>
          </a:p>
          <a:p>
            <a:pPr indent="-317500" lvl="1" marL="914400" rtl="0" algn="l">
              <a:spcBef>
                <a:spcPts val="0"/>
              </a:spcBef>
              <a:spcAft>
                <a:spcPts val="0"/>
              </a:spcAft>
              <a:buSzPts val="1400"/>
              <a:buFont typeface="Old Standard TT"/>
              <a:buChar char="○"/>
            </a:pPr>
            <a:r>
              <a:rPr lang="en" sz="1400"/>
              <a:t>Quantity currently used in decks</a:t>
            </a:r>
            <a:endParaRPr sz="1400"/>
          </a:p>
          <a:p>
            <a:pPr indent="0" lvl="0" marL="0" rtl="0" algn="l">
              <a:spcBef>
                <a:spcPts val="1200"/>
              </a:spcBef>
              <a:spcAft>
                <a:spcPts val="1200"/>
              </a:spcAft>
              <a:buNone/>
            </a:pPr>
            <a:r>
              <a:t/>
            </a:r>
            <a:endParaRPr/>
          </a:p>
        </p:txBody>
      </p:sp>
      <p:sp>
        <p:nvSpPr>
          <p:cNvPr id="126" name="Google Shape;126;p23"/>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275"/>
              <a:buFont typeface="Arial"/>
              <a:buNone/>
            </a:pPr>
            <a:r>
              <a:rPr b="1" lang="en" sz="1100"/>
              <a:t>Card Details Displayed</a:t>
            </a:r>
            <a:endParaRPr b="1" sz="1100"/>
          </a:p>
          <a:p>
            <a:pPr indent="-298450" lvl="0" marL="457200" rtl="0" algn="l">
              <a:spcBef>
                <a:spcPts val="1200"/>
              </a:spcBef>
              <a:spcAft>
                <a:spcPts val="0"/>
              </a:spcAft>
              <a:buSzPts val="1100"/>
              <a:buFont typeface="Old Standard TT"/>
              <a:buChar char="●"/>
            </a:pPr>
            <a:r>
              <a:rPr lang="en" sz="1100"/>
              <a:t>Card name</a:t>
            </a:r>
            <a:br>
              <a:rPr lang="en" sz="1100"/>
            </a:br>
            <a:endParaRPr sz="1100"/>
          </a:p>
          <a:p>
            <a:pPr indent="-298450" lvl="0" marL="457200" rtl="0" algn="l">
              <a:spcBef>
                <a:spcPts val="0"/>
              </a:spcBef>
              <a:spcAft>
                <a:spcPts val="0"/>
              </a:spcAft>
              <a:buSzPts val="1100"/>
              <a:buFont typeface="Old Standard TT"/>
              <a:buChar char="●"/>
            </a:pPr>
            <a:r>
              <a:rPr lang="en" sz="1100"/>
              <a:t>Mana cost (symbol images)</a:t>
            </a:r>
            <a:br>
              <a:rPr lang="en" sz="1100"/>
            </a:br>
            <a:endParaRPr sz="1100"/>
          </a:p>
          <a:p>
            <a:pPr indent="-298450" lvl="0" marL="457200" rtl="0" algn="l">
              <a:spcBef>
                <a:spcPts val="0"/>
              </a:spcBef>
              <a:spcAft>
                <a:spcPts val="0"/>
              </a:spcAft>
              <a:buSzPts val="1100"/>
              <a:buFont typeface="Old Standard TT"/>
              <a:buChar char="●"/>
            </a:pPr>
            <a:r>
              <a:rPr lang="en" sz="1100"/>
              <a:t>Type, subtypes, and supertypes (when applicable)</a:t>
            </a:r>
            <a:br>
              <a:rPr lang="en" sz="1100"/>
            </a:br>
            <a:endParaRPr sz="1100"/>
          </a:p>
          <a:p>
            <a:pPr indent="-298450" lvl="0" marL="457200" rtl="0" algn="l">
              <a:spcBef>
                <a:spcPts val="0"/>
              </a:spcBef>
              <a:spcAft>
                <a:spcPts val="0"/>
              </a:spcAft>
              <a:buSzPts val="1100"/>
              <a:buFont typeface="Old Standard TT"/>
              <a:buChar char="●"/>
            </a:pPr>
            <a:r>
              <a:rPr lang="en" sz="1100"/>
              <a:t>Set name, rarity, and collector number (when applicable)</a:t>
            </a:r>
            <a:br>
              <a:rPr lang="en" sz="1100"/>
            </a:br>
            <a:endParaRPr sz="1100"/>
          </a:p>
          <a:p>
            <a:pPr indent="-298450" lvl="0" marL="457200" rtl="0" algn="l">
              <a:spcBef>
                <a:spcPts val="0"/>
              </a:spcBef>
              <a:spcAft>
                <a:spcPts val="0"/>
              </a:spcAft>
              <a:buSzPts val="1100"/>
              <a:buFont typeface="Old Standard TT"/>
              <a:buChar char="●"/>
            </a:pPr>
            <a:r>
              <a:rPr lang="en" sz="1100"/>
              <a:t>Full rules text</a:t>
            </a:r>
            <a:br>
              <a:rPr lang="en" sz="1100"/>
            </a:br>
            <a:endParaRPr sz="1100"/>
          </a:p>
          <a:p>
            <a:pPr indent="-298450" lvl="0" marL="457200" rtl="0" algn="l">
              <a:spcBef>
                <a:spcPts val="0"/>
              </a:spcBef>
              <a:spcAft>
                <a:spcPts val="0"/>
              </a:spcAft>
              <a:buSzPts val="1100"/>
              <a:buFont typeface="Old Standard TT"/>
              <a:buChar char="●"/>
            </a:pPr>
            <a:r>
              <a:rPr lang="en" sz="1100"/>
              <a:t>Artist name</a:t>
            </a:r>
            <a:br>
              <a:rPr lang="en" sz="1100"/>
            </a:br>
            <a:endParaRPr sz="1100"/>
          </a:p>
          <a:p>
            <a:pPr indent="-298450" lvl="0" marL="457200" rtl="0" algn="l">
              <a:spcBef>
                <a:spcPts val="0"/>
              </a:spcBef>
              <a:spcAft>
                <a:spcPts val="0"/>
              </a:spcAft>
              <a:buSzPts val="1100"/>
              <a:buFont typeface="Old Standard TT"/>
              <a:buChar char="●"/>
            </a:pPr>
            <a:r>
              <a:rPr lang="en" sz="1100"/>
              <a:t>Power/Toughness (when applicable)</a:t>
            </a:r>
            <a:br>
              <a:rPr lang="en" sz="1100"/>
            </a:br>
            <a:endParaRPr sz="1100"/>
          </a:p>
          <a:p>
            <a:pPr indent="-298450" lvl="0" marL="457200" rtl="0" algn="l">
              <a:spcBef>
                <a:spcPts val="0"/>
              </a:spcBef>
              <a:spcAft>
                <a:spcPts val="0"/>
              </a:spcAft>
              <a:buSzPts val="1100"/>
              <a:buFont typeface="Old Standard TT"/>
              <a:buChar char="●"/>
            </a:pPr>
            <a:r>
              <a:rPr lang="en" sz="1100"/>
              <a:t>Flavor text (when applicable)</a:t>
            </a:r>
            <a:endParaRPr sz="1100"/>
          </a:p>
          <a:p>
            <a:pPr indent="0" lvl="0" marL="0" rtl="0" algn="l">
              <a:spcBef>
                <a:spcPts val="1200"/>
              </a:spcBef>
              <a:spcAft>
                <a:spcPts val="1200"/>
              </a:spcAft>
              <a:buSzPts val="275"/>
              <a:buNone/>
            </a:pPr>
            <a:r>
              <a:t/>
            </a:r>
            <a:endParaRPr sz="35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Card Information Page</a:t>
            </a:r>
            <a:endParaRPr/>
          </a:p>
        </p:txBody>
      </p:sp>
      <p:sp>
        <p:nvSpPr>
          <p:cNvPr id="132" name="Google Shape;132;p24"/>
          <p:cNvSpPr txBox="1"/>
          <p:nvPr>
            <p:ph idx="1" type="body"/>
          </p:nvPr>
        </p:nvSpPr>
        <p:spPr>
          <a:xfrm>
            <a:off x="311700" y="1171675"/>
            <a:ext cx="3999900" cy="33972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Clr>
                <a:schemeClr val="dk1"/>
              </a:buClr>
              <a:buSzPct val="26190"/>
              <a:buFont typeface="Arial"/>
              <a:buNone/>
            </a:pPr>
            <a:r>
              <a:rPr b="1" lang="en" sz="4200"/>
              <a:t>Format Legality</a:t>
            </a:r>
            <a:endParaRPr b="1" sz="4200"/>
          </a:p>
          <a:p>
            <a:pPr indent="-295275" lvl="0" marL="457200" rtl="0" algn="l">
              <a:spcBef>
                <a:spcPts val="1200"/>
              </a:spcBef>
              <a:spcAft>
                <a:spcPts val="0"/>
              </a:spcAft>
              <a:buSzPct val="100000"/>
              <a:buFont typeface="Old Standard TT"/>
              <a:buChar char="●"/>
            </a:pPr>
            <a:r>
              <a:rPr lang="en" sz="4200"/>
              <a:t>Displays legality for supported formats:</a:t>
            </a:r>
            <a:br>
              <a:rPr lang="en" sz="4200"/>
            </a:br>
            <a:endParaRPr sz="4200"/>
          </a:p>
          <a:p>
            <a:pPr indent="-295275" lvl="1" marL="914400" rtl="0" algn="l">
              <a:spcBef>
                <a:spcPts val="0"/>
              </a:spcBef>
              <a:spcAft>
                <a:spcPts val="0"/>
              </a:spcAft>
              <a:buSzPct val="100000"/>
              <a:buFont typeface="Old Standard TT"/>
              <a:buChar char="○"/>
            </a:pPr>
            <a:r>
              <a:rPr lang="en" sz="4200"/>
              <a:t>Commander</a:t>
            </a:r>
            <a:br>
              <a:rPr lang="en" sz="4200"/>
            </a:br>
            <a:endParaRPr sz="4200"/>
          </a:p>
          <a:p>
            <a:pPr indent="-295275" lvl="1" marL="914400" rtl="0" algn="l">
              <a:spcBef>
                <a:spcPts val="0"/>
              </a:spcBef>
              <a:spcAft>
                <a:spcPts val="0"/>
              </a:spcAft>
              <a:buSzPct val="100000"/>
              <a:buFont typeface="Old Standard TT"/>
              <a:buChar char="○"/>
            </a:pPr>
            <a:r>
              <a:rPr lang="en" sz="4200"/>
              <a:t>Standard</a:t>
            </a:r>
            <a:br>
              <a:rPr lang="en" sz="4200"/>
            </a:br>
            <a:endParaRPr sz="4200"/>
          </a:p>
          <a:p>
            <a:pPr indent="-295275" lvl="0" marL="457200" rtl="0" algn="l">
              <a:spcBef>
                <a:spcPts val="0"/>
              </a:spcBef>
              <a:spcAft>
                <a:spcPts val="0"/>
              </a:spcAft>
              <a:buSzPct val="100000"/>
              <a:buFont typeface="Arial"/>
              <a:buChar char="●"/>
            </a:pPr>
            <a:r>
              <a:rPr lang="en" sz="4200"/>
              <a:t>Status shown as </a:t>
            </a:r>
            <a:r>
              <a:rPr b="1" lang="en" sz="4200"/>
              <a:t>“Legal”</a:t>
            </a:r>
            <a:r>
              <a:rPr lang="en" sz="4200"/>
              <a:t> or </a:t>
            </a:r>
            <a:r>
              <a:rPr b="1" lang="en" sz="4200"/>
              <a:t>“Not Legal”</a:t>
            </a:r>
            <a:br>
              <a:rPr b="1" lang="en" sz="4200"/>
            </a:br>
            <a:endParaRPr b="1" sz="4200"/>
          </a:p>
          <a:p>
            <a:pPr indent="0" lvl="0" marL="0" rtl="0" algn="l">
              <a:spcBef>
                <a:spcPts val="1200"/>
              </a:spcBef>
              <a:spcAft>
                <a:spcPts val="0"/>
              </a:spcAft>
              <a:buClr>
                <a:schemeClr val="dk1"/>
              </a:buClr>
              <a:buSzPct val="26190"/>
              <a:buFont typeface="Arial"/>
              <a:buNone/>
            </a:pPr>
            <a:r>
              <a:t/>
            </a:r>
            <a:endParaRPr b="1" sz="4200"/>
          </a:p>
          <a:p>
            <a:pPr indent="0" lvl="0" marL="0" rtl="0" algn="l">
              <a:spcBef>
                <a:spcPts val="1400"/>
              </a:spcBef>
              <a:spcAft>
                <a:spcPts val="0"/>
              </a:spcAft>
              <a:buClr>
                <a:schemeClr val="dk1"/>
              </a:buClr>
              <a:buSzPct val="26190"/>
              <a:buFont typeface="Arial"/>
              <a:buNone/>
            </a:pPr>
            <a:r>
              <a:rPr b="1" lang="en" sz="4200"/>
              <a:t>Deck Integration</a:t>
            </a:r>
            <a:endParaRPr b="1" sz="4200"/>
          </a:p>
          <a:p>
            <a:pPr indent="-295275" lvl="0" marL="457200" rtl="0" algn="l">
              <a:spcBef>
                <a:spcPts val="1200"/>
              </a:spcBef>
              <a:spcAft>
                <a:spcPts val="0"/>
              </a:spcAft>
              <a:buSzPct val="100000"/>
              <a:buFont typeface="Arial"/>
              <a:buChar char="●"/>
            </a:pPr>
            <a:r>
              <a:rPr b="1" lang="en" sz="4200"/>
              <a:t>Add to Deck</a:t>
            </a:r>
            <a:r>
              <a:rPr lang="en" sz="4200"/>
              <a:t> button</a:t>
            </a:r>
            <a:br>
              <a:rPr lang="en" sz="4200"/>
            </a:br>
            <a:endParaRPr sz="4200"/>
          </a:p>
          <a:p>
            <a:pPr indent="-295275" lvl="0" marL="457200" rtl="0" algn="l">
              <a:spcBef>
                <a:spcPts val="0"/>
              </a:spcBef>
              <a:spcAft>
                <a:spcPts val="0"/>
              </a:spcAft>
              <a:buSzPct val="100000"/>
              <a:buFont typeface="Old Standard TT"/>
              <a:buChar char="●"/>
            </a:pPr>
            <a:r>
              <a:rPr lang="en" sz="4200"/>
              <a:t>Opens deck selection menu</a:t>
            </a:r>
            <a:br>
              <a:rPr lang="en" sz="4200"/>
            </a:br>
            <a:endParaRPr sz="4200"/>
          </a:p>
          <a:p>
            <a:pPr indent="-295275" lvl="0" marL="457200" rtl="0" algn="l">
              <a:spcBef>
                <a:spcPts val="0"/>
              </a:spcBef>
              <a:spcAft>
                <a:spcPts val="0"/>
              </a:spcAft>
              <a:buSzPct val="100000"/>
              <a:buFont typeface="Old Standard TT"/>
              <a:buChar char="●"/>
            </a:pPr>
            <a:r>
              <a:rPr lang="en" sz="4200"/>
              <a:t>User confirms or cancels selection</a:t>
            </a:r>
            <a:br>
              <a:rPr lang="en" sz="4200"/>
            </a:br>
            <a:endParaRPr sz="4200"/>
          </a:p>
          <a:p>
            <a:pPr indent="-295275" lvl="0" marL="457200" rtl="0" algn="l">
              <a:spcBef>
                <a:spcPts val="0"/>
              </a:spcBef>
              <a:spcAft>
                <a:spcPts val="0"/>
              </a:spcAft>
              <a:buSzPct val="100000"/>
              <a:buFont typeface="Old Standard TT"/>
              <a:buChar char="●"/>
            </a:pPr>
            <a:r>
              <a:rPr lang="en" sz="4200"/>
              <a:t>On confirmation, card is added to selected deck(s)</a:t>
            </a:r>
            <a:endParaRPr sz="4200"/>
          </a:p>
          <a:p>
            <a:pPr indent="0" lvl="0" marL="0" rtl="0" algn="l">
              <a:spcBef>
                <a:spcPts val="1200"/>
              </a:spcBef>
              <a:spcAft>
                <a:spcPts val="1200"/>
              </a:spcAft>
              <a:buNone/>
            </a:pPr>
            <a:r>
              <a:t/>
            </a:r>
            <a:endParaRPr/>
          </a:p>
        </p:txBody>
      </p:sp>
      <p:sp>
        <p:nvSpPr>
          <p:cNvPr id="133" name="Google Shape;133;p24"/>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200"/>
              <a:t>Inventory Integration</a:t>
            </a:r>
            <a:endParaRPr b="1" sz="1200"/>
          </a:p>
          <a:p>
            <a:pPr indent="-304800" lvl="0" marL="457200" rtl="0" algn="l">
              <a:spcBef>
                <a:spcPts val="1200"/>
              </a:spcBef>
              <a:spcAft>
                <a:spcPts val="0"/>
              </a:spcAft>
              <a:buSzPts val="1200"/>
              <a:buFont typeface="Arial"/>
              <a:buChar char="●"/>
            </a:pPr>
            <a:r>
              <a:rPr b="1" lang="en" sz="1200"/>
              <a:t>Add to Inventory</a:t>
            </a:r>
            <a:r>
              <a:rPr lang="en" sz="1200"/>
              <a:t> button</a:t>
            </a:r>
            <a:br>
              <a:rPr lang="en" sz="1200"/>
            </a:br>
            <a:endParaRPr sz="1200"/>
          </a:p>
          <a:p>
            <a:pPr indent="-304800" lvl="1" marL="914400" rtl="0" algn="l">
              <a:spcBef>
                <a:spcPts val="0"/>
              </a:spcBef>
              <a:spcAft>
                <a:spcPts val="0"/>
              </a:spcAft>
              <a:buSzPts val="1200"/>
              <a:buFont typeface="Old Standard TT"/>
              <a:buChar char="○"/>
            </a:pPr>
            <a:r>
              <a:rPr lang="en"/>
              <a:t>Increases owned quantity by 1</a:t>
            </a:r>
            <a:br>
              <a:rPr lang="en"/>
            </a:br>
            <a:endParaRPr/>
          </a:p>
          <a:p>
            <a:pPr indent="-304800" lvl="0" marL="457200" rtl="0" algn="l">
              <a:spcBef>
                <a:spcPts val="0"/>
              </a:spcBef>
              <a:spcAft>
                <a:spcPts val="0"/>
              </a:spcAft>
              <a:buSzPts val="1200"/>
              <a:buFont typeface="Arial"/>
              <a:buChar char="●"/>
            </a:pPr>
            <a:r>
              <a:rPr b="1" lang="en" sz="1200"/>
              <a:t>Remove from Inventory</a:t>
            </a:r>
            <a:r>
              <a:rPr lang="en" sz="1200"/>
              <a:t> button</a:t>
            </a:r>
            <a:br>
              <a:rPr lang="en" sz="1200"/>
            </a:br>
            <a:endParaRPr sz="1200"/>
          </a:p>
          <a:p>
            <a:pPr indent="-304800" lvl="1" marL="914400" rtl="0" algn="l">
              <a:spcBef>
                <a:spcPts val="0"/>
              </a:spcBef>
              <a:spcAft>
                <a:spcPts val="0"/>
              </a:spcAft>
              <a:buSzPts val="1200"/>
              <a:buFont typeface="Old Standard TT"/>
              <a:buChar char="○"/>
            </a:pPr>
            <a:r>
              <a:rPr lang="en"/>
              <a:t>Decreases owned quantity by 1</a:t>
            </a:r>
            <a:br>
              <a:rPr lang="en"/>
            </a:br>
            <a:endParaRPr/>
          </a:p>
          <a:p>
            <a:pPr indent="-304800" lvl="1" marL="914400" rtl="0" algn="l">
              <a:spcBef>
                <a:spcPts val="0"/>
              </a:spcBef>
              <a:spcAft>
                <a:spcPts val="0"/>
              </a:spcAft>
              <a:buSzPts val="1200"/>
              <a:buFont typeface="Old Standard TT"/>
              <a:buChar char="○"/>
            </a:pPr>
            <a:r>
              <a:rPr lang="en"/>
              <a:t>Hidden when owned quantity equals 0</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Database</a:t>
            </a:r>
            <a:endParaRPr/>
          </a:p>
        </p:txBody>
      </p:sp>
      <p:sp>
        <p:nvSpPr>
          <p:cNvPr id="139" name="Google Shape;139;p2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User Data</a:t>
            </a:r>
            <a:endParaRPr b="1" sz="1800"/>
          </a:p>
          <a:p>
            <a:pPr indent="-317500" lvl="0" marL="457200" rtl="0" algn="l">
              <a:spcBef>
                <a:spcPts val="1200"/>
              </a:spcBef>
              <a:spcAft>
                <a:spcPts val="0"/>
              </a:spcAft>
              <a:buSzPts val="1400"/>
              <a:buChar char="●"/>
            </a:pPr>
            <a:r>
              <a:rPr lang="en"/>
              <a:t>Email</a:t>
            </a:r>
            <a:endParaRPr/>
          </a:p>
          <a:p>
            <a:pPr indent="-317500" lvl="0" marL="457200" rtl="0" algn="l">
              <a:spcBef>
                <a:spcPts val="0"/>
              </a:spcBef>
              <a:spcAft>
                <a:spcPts val="0"/>
              </a:spcAft>
              <a:buSzPts val="1400"/>
              <a:buChar char="●"/>
            </a:pPr>
            <a:r>
              <a:rPr lang="en"/>
              <a:t>Unique user ID</a:t>
            </a:r>
            <a:endParaRPr/>
          </a:p>
          <a:p>
            <a:pPr indent="0" lvl="0" marL="0" marR="0" rtl="0" algn="l">
              <a:lnSpc>
                <a:spcPct val="115000"/>
              </a:lnSpc>
              <a:spcBef>
                <a:spcPts val="1200"/>
              </a:spcBef>
              <a:spcAft>
                <a:spcPts val="0"/>
              </a:spcAft>
              <a:buNone/>
            </a:pPr>
            <a:r>
              <a:rPr b="1" lang="en" sz="1800"/>
              <a:t>Card Data </a:t>
            </a:r>
            <a:endParaRPr b="1" sz="1800"/>
          </a:p>
          <a:p>
            <a:pPr indent="-317500" lvl="0" marL="457200" marR="0" rtl="0" algn="l">
              <a:lnSpc>
                <a:spcPct val="115000"/>
              </a:lnSpc>
              <a:spcBef>
                <a:spcPts val="1200"/>
              </a:spcBef>
              <a:spcAft>
                <a:spcPts val="0"/>
              </a:spcAft>
              <a:buSzPts val="1400"/>
              <a:buChar char="●"/>
            </a:pPr>
            <a:r>
              <a:rPr lang="en"/>
              <a:t>Name </a:t>
            </a:r>
            <a:endParaRPr/>
          </a:p>
          <a:p>
            <a:pPr indent="-317500" lvl="0" marL="457200" marR="0" rtl="0" algn="l">
              <a:lnSpc>
                <a:spcPct val="115000"/>
              </a:lnSpc>
              <a:spcBef>
                <a:spcPts val="0"/>
              </a:spcBef>
              <a:spcAft>
                <a:spcPts val="0"/>
              </a:spcAft>
              <a:buSzPts val="1400"/>
              <a:buChar char="●"/>
            </a:pPr>
            <a:r>
              <a:rPr lang="en"/>
              <a:t>Color</a:t>
            </a:r>
            <a:r>
              <a:rPr lang="en" sz="1200"/>
              <a:t>(s)</a:t>
            </a:r>
            <a:endParaRPr/>
          </a:p>
          <a:p>
            <a:pPr indent="-317500" lvl="0" marL="457200" marR="0" rtl="0" algn="l">
              <a:lnSpc>
                <a:spcPct val="115000"/>
              </a:lnSpc>
              <a:spcBef>
                <a:spcPts val="0"/>
              </a:spcBef>
              <a:spcAft>
                <a:spcPts val="0"/>
              </a:spcAft>
              <a:buSzPts val="1400"/>
              <a:buChar char="●"/>
            </a:pPr>
            <a:r>
              <a:rPr lang="en"/>
              <a:t>Cost</a:t>
            </a:r>
            <a:endParaRPr/>
          </a:p>
          <a:p>
            <a:pPr indent="-317500" lvl="0" marL="457200" marR="0" rtl="0" algn="l">
              <a:lnSpc>
                <a:spcPct val="115000"/>
              </a:lnSpc>
              <a:spcBef>
                <a:spcPts val="0"/>
              </a:spcBef>
              <a:spcAft>
                <a:spcPts val="0"/>
              </a:spcAft>
              <a:buSzPts val="1400"/>
              <a:buChar char="●"/>
            </a:pPr>
            <a:r>
              <a:rPr lang="en"/>
              <a:t>Type</a:t>
            </a:r>
            <a:endParaRPr/>
          </a:p>
          <a:p>
            <a:pPr indent="-317500" lvl="0" marL="457200" marR="0" rtl="0" algn="l">
              <a:lnSpc>
                <a:spcPct val="115000"/>
              </a:lnSpc>
              <a:spcBef>
                <a:spcPts val="0"/>
              </a:spcBef>
              <a:spcAft>
                <a:spcPts val="0"/>
              </a:spcAft>
              <a:buSzPts val="1400"/>
              <a:buChar char="●"/>
            </a:pPr>
            <a:r>
              <a:rPr lang="en"/>
              <a:t>Ect. </a:t>
            </a:r>
            <a:endParaRPr/>
          </a:p>
        </p:txBody>
      </p:sp>
      <p:sp>
        <p:nvSpPr>
          <p:cNvPr id="140" name="Google Shape;140;p2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Inventory Data</a:t>
            </a:r>
            <a:endParaRPr b="1" sz="1800"/>
          </a:p>
          <a:p>
            <a:pPr indent="-317500" lvl="0" marL="457200" rtl="0" algn="l">
              <a:spcBef>
                <a:spcPts val="1200"/>
              </a:spcBef>
              <a:spcAft>
                <a:spcPts val="0"/>
              </a:spcAft>
              <a:buSzPts val="1400"/>
              <a:buFont typeface="Arial"/>
              <a:buChar char="●"/>
            </a:pPr>
            <a:r>
              <a:rPr lang="en"/>
              <a:t>Name and number of each card in user’s inventory </a:t>
            </a:r>
            <a:endParaRPr/>
          </a:p>
          <a:p>
            <a:pPr indent="-317500" lvl="0" marL="457200" rtl="0" algn="l">
              <a:spcBef>
                <a:spcPts val="0"/>
              </a:spcBef>
              <a:spcAft>
                <a:spcPts val="0"/>
              </a:spcAft>
              <a:buSzPts val="1400"/>
              <a:buFont typeface="Arial"/>
              <a:buChar char="●"/>
            </a:pPr>
            <a:r>
              <a:rPr b="1" lang="en" sz="1800"/>
              <a:t> </a:t>
            </a:r>
            <a:r>
              <a:rPr lang="en"/>
              <a:t>Will update number when card is added or removed in any way</a:t>
            </a:r>
            <a:endParaRPr/>
          </a:p>
          <a:p>
            <a:pPr indent="0" lvl="0" marL="0" rtl="0" algn="l">
              <a:spcBef>
                <a:spcPts val="1200"/>
              </a:spcBef>
              <a:spcAft>
                <a:spcPts val="0"/>
              </a:spcAft>
              <a:buNone/>
            </a:pPr>
            <a:r>
              <a:rPr b="1" lang="en" sz="1800"/>
              <a:t>Deck Data</a:t>
            </a:r>
            <a:endParaRPr/>
          </a:p>
          <a:p>
            <a:pPr indent="-317500" lvl="0" marL="457200" rtl="0" algn="l">
              <a:spcBef>
                <a:spcPts val="1200"/>
              </a:spcBef>
              <a:spcAft>
                <a:spcPts val="0"/>
              </a:spcAft>
              <a:buSzPts val="1400"/>
              <a:buChar char="●"/>
            </a:pPr>
            <a:r>
              <a:rPr lang="en"/>
              <a:t>Unique deck ID </a:t>
            </a:r>
            <a:endParaRPr/>
          </a:p>
          <a:p>
            <a:pPr indent="-317500" lvl="0" marL="457200" rtl="0" algn="l">
              <a:spcBef>
                <a:spcPts val="0"/>
              </a:spcBef>
              <a:spcAft>
                <a:spcPts val="0"/>
              </a:spcAft>
              <a:buSzPts val="1400"/>
              <a:buChar char="●"/>
            </a:pPr>
            <a:r>
              <a:rPr lang="en"/>
              <a:t>Deck </a:t>
            </a:r>
            <a:r>
              <a:rPr lang="en"/>
              <a:t>information</a:t>
            </a:r>
            <a:r>
              <a:rPr lang="en"/>
              <a:t> </a:t>
            </a:r>
            <a:endParaRPr/>
          </a:p>
          <a:p>
            <a:pPr indent="-304800" lvl="1" marL="914400" rtl="0" algn="l">
              <a:spcBef>
                <a:spcPts val="0"/>
              </a:spcBef>
              <a:spcAft>
                <a:spcPts val="0"/>
              </a:spcAft>
              <a:buSzPts val="1200"/>
              <a:buChar char="○"/>
            </a:pPr>
            <a:r>
              <a:rPr lang="en"/>
              <a:t>Name </a:t>
            </a:r>
            <a:endParaRPr/>
          </a:p>
          <a:p>
            <a:pPr indent="-304800" lvl="1" marL="914400" rtl="0" algn="l">
              <a:spcBef>
                <a:spcPts val="0"/>
              </a:spcBef>
              <a:spcAft>
                <a:spcPts val="0"/>
              </a:spcAft>
              <a:buSzPts val="1200"/>
              <a:buChar char="○"/>
            </a:pPr>
            <a:r>
              <a:rPr lang="en"/>
              <a:t>Color(s)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Risky Requirement 1</a:t>
            </a:r>
            <a:endParaRPr/>
          </a:p>
        </p:txBody>
      </p:sp>
      <p:sp>
        <p:nvSpPr>
          <p:cNvPr id="146" name="Google Shape;146;p26"/>
          <p:cNvSpPr txBox="1"/>
          <p:nvPr>
            <p:ph idx="1" type="body"/>
          </p:nvPr>
        </p:nvSpPr>
        <p:spPr>
          <a:xfrm>
            <a:off x="311700" y="1171675"/>
            <a:ext cx="3999900" cy="3397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1800"/>
              <a:t>Risk:</a:t>
            </a:r>
            <a:endParaRPr b="1" sz="1800"/>
          </a:p>
          <a:p>
            <a:pPr indent="0" lvl="0" marL="0" rtl="0" algn="l">
              <a:spcBef>
                <a:spcPts val="1200"/>
              </a:spcBef>
              <a:spcAft>
                <a:spcPts val="0"/>
              </a:spcAft>
              <a:buNone/>
            </a:pPr>
            <a:r>
              <a:rPr lang="en"/>
              <a:t>Scryfall API failure/slow response time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sz="800"/>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rPr b="1" lang="en" sz="1800"/>
              <a:t>Mitigation:</a:t>
            </a:r>
            <a:endParaRPr b="1" sz="1800"/>
          </a:p>
          <a:p>
            <a:pPr indent="-317500" lvl="0" marL="457200" rtl="0" algn="l">
              <a:spcBef>
                <a:spcPts val="1200"/>
              </a:spcBef>
              <a:spcAft>
                <a:spcPts val="0"/>
              </a:spcAft>
              <a:buSzPts val="1400"/>
              <a:buChar char="●"/>
            </a:pPr>
            <a:r>
              <a:rPr lang="en"/>
              <a:t>Error messages </a:t>
            </a:r>
            <a:endParaRPr/>
          </a:p>
          <a:p>
            <a:pPr indent="-317500" lvl="0" marL="457200" rtl="0" algn="l">
              <a:spcBef>
                <a:spcPts val="0"/>
              </a:spcBef>
              <a:spcAft>
                <a:spcPts val="0"/>
              </a:spcAft>
              <a:buSzPts val="1400"/>
              <a:buChar char="●"/>
            </a:pPr>
            <a:r>
              <a:rPr lang="en"/>
              <a:t>Loading indicators </a:t>
            </a:r>
            <a:endParaRPr/>
          </a:p>
          <a:p>
            <a:pPr indent="-317500" lvl="0" marL="457200" rtl="0" algn="l">
              <a:spcBef>
                <a:spcPts val="0"/>
              </a:spcBef>
              <a:spcAft>
                <a:spcPts val="0"/>
              </a:spcAft>
              <a:buSzPts val="1400"/>
              <a:buChar char="●"/>
            </a:pPr>
            <a:r>
              <a:rPr lang="en"/>
              <a:t>Caching Data</a:t>
            </a:r>
            <a:endParaRPr/>
          </a:p>
        </p:txBody>
      </p:sp>
      <p:sp>
        <p:nvSpPr>
          <p:cNvPr id="147" name="Google Shape;147;p26"/>
          <p:cNvSpPr txBox="1"/>
          <p:nvPr>
            <p:ph idx="2" type="body"/>
          </p:nvPr>
        </p:nvSpPr>
        <p:spPr>
          <a:xfrm>
            <a:off x="4832400" y="1171675"/>
            <a:ext cx="3999900" cy="33972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b="1" lang="en" sz="1800"/>
              <a:t>Impact:</a:t>
            </a:r>
            <a:endParaRPr b="1" sz="1800"/>
          </a:p>
          <a:p>
            <a:pPr indent="-317500" lvl="0" marL="457200" rtl="0" algn="l">
              <a:spcBef>
                <a:spcPts val="1200"/>
              </a:spcBef>
              <a:spcAft>
                <a:spcPts val="0"/>
              </a:spcAft>
              <a:buSzPts val="1400"/>
              <a:buChar char="●"/>
            </a:pPr>
            <a:r>
              <a:rPr lang="en"/>
              <a:t>Search delays</a:t>
            </a:r>
            <a:endParaRPr/>
          </a:p>
          <a:p>
            <a:pPr indent="-317500" lvl="0" marL="457200" rtl="0" algn="l">
              <a:spcBef>
                <a:spcPts val="0"/>
              </a:spcBef>
              <a:spcAft>
                <a:spcPts val="0"/>
              </a:spcAft>
              <a:buSzPts val="1400"/>
              <a:buChar char="●"/>
            </a:pPr>
            <a:r>
              <a:rPr lang="en"/>
              <a:t>Incomplete data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Risky</a:t>
            </a:r>
            <a:r>
              <a:rPr lang="en"/>
              <a:t> Requirement 2</a:t>
            </a:r>
            <a:endParaRPr/>
          </a:p>
        </p:txBody>
      </p:sp>
      <p:sp>
        <p:nvSpPr>
          <p:cNvPr id="153" name="Google Shape;153;p27"/>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Risk:</a:t>
            </a:r>
            <a:endParaRPr/>
          </a:p>
          <a:p>
            <a:pPr indent="0" lvl="0" marL="0" rtl="0" algn="l">
              <a:spcBef>
                <a:spcPts val="1200"/>
              </a:spcBef>
              <a:spcAft>
                <a:spcPts val="0"/>
              </a:spcAft>
              <a:buNone/>
            </a:pPr>
            <a:r>
              <a:rPr lang="en"/>
              <a:t>Dynamic UI behavior could cause bugs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Mitigations:</a:t>
            </a:r>
            <a:endParaRPr/>
          </a:p>
          <a:p>
            <a:pPr indent="-317500" lvl="0" marL="457200" rtl="0" algn="l">
              <a:spcBef>
                <a:spcPts val="1200"/>
              </a:spcBef>
              <a:spcAft>
                <a:spcPts val="0"/>
              </a:spcAft>
              <a:buSzPts val="1400"/>
              <a:buChar char="●"/>
            </a:pPr>
            <a:r>
              <a:rPr lang="en"/>
              <a:t>Have default values</a:t>
            </a:r>
            <a:endParaRPr/>
          </a:p>
          <a:p>
            <a:pPr indent="-317500" lvl="0" marL="457200" rtl="0" algn="l">
              <a:spcBef>
                <a:spcPts val="0"/>
              </a:spcBef>
              <a:spcAft>
                <a:spcPts val="0"/>
              </a:spcAft>
              <a:buSzPts val="1400"/>
              <a:buChar char="●"/>
            </a:pPr>
            <a:r>
              <a:rPr lang="en"/>
              <a:t>Consistent Layout</a:t>
            </a:r>
            <a:endParaRPr/>
          </a:p>
          <a:p>
            <a:pPr indent="-317500" lvl="0" marL="457200" rtl="0" algn="l">
              <a:spcBef>
                <a:spcPts val="0"/>
              </a:spcBef>
              <a:spcAft>
                <a:spcPts val="0"/>
              </a:spcAft>
              <a:buSzPts val="1400"/>
              <a:buChar char="●"/>
            </a:pPr>
            <a:r>
              <a:rPr lang="en"/>
              <a:t>Testing all cases</a:t>
            </a:r>
            <a:endParaRPr/>
          </a:p>
          <a:p>
            <a:pPr indent="0" lvl="0" marL="0" rtl="0" algn="l">
              <a:spcBef>
                <a:spcPts val="1200"/>
              </a:spcBef>
              <a:spcAft>
                <a:spcPts val="1200"/>
              </a:spcAft>
              <a:buNone/>
            </a:pPr>
            <a:r>
              <a:t/>
            </a:r>
            <a:endParaRPr/>
          </a:p>
        </p:txBody>
      </p:sp>
      <p:sp>
        <p:nvSpPr>
          <p:cNvPr id="154" name="Google Shape;154;p27"/>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Impact:</a:t>
            </a:r>
            <a:endParaRPr/>
          </a:p>
          <a:p>
            <a:pPr indent="-317500" lvl="0" marL="457200" rtl="0" algn="l">
              <a:spcBef>
                <a:spcPts val="1200"/>
              </a:spcBef>
              <a:spcAft>
                <a:spcPts val="0"/>
              </a:spcAft>
              <a:buSzPts val="1400"/>
              <a:buChar char="●"/>
            </a:pPr>
            <a:r>
              <a:rPr lang="en"/>
              <a:t>UI Design</a:t>
            </a:r>
            <a:endParaRPr/>
          </a:p>
          <a:p>
            <a:pPr indent="-317500" lvl="0" marL="457200" rtl="0" algn="l">
              <a:spcBef>
                <a:spcPts val="0"/>
              </a:spcBef>
              <a:spcAft>
                <a:spcPts val="0"/>
              </a:spcAft>
              <a:buSzPts val="1400"/>
              <a:buChar char="●"/>
            </a:pPr>
            <a:r>
              <a:rPr lang="en"/>
              <a:t>Program not working as intended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Risky Requirement 3</a:t>
            </a:r>
            <a:endParaRPr/>
          </a:p>
        </p:txBody>
      </p:sp>
      <p:sp>
        <p:nvSpPr>
          <p:cNvPr id="160" name="Google Shape;160;p28"/>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Risk:</a:t>
            </a:r>
            <a:endParaRPr/>
          </a:p>
          <a:p>
            <a:pPr indent="0" lvl="0" marL="0" rtl="0" algn="l">
              <a:spcBef>
                <a:spcPts val="1200"/>
              </a:spcBef>
              <a:spcAft>
                <a:spcPts val="0"/>
              </a:spcAft>
              <a:buNone/>
            </a:pPr>
            <a:r>
              <a:rPr lang="en"/>
              <a:t>Real Time Deck and Inventory Sync</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Mitigations:</a:t>
            </a:r>
            <a:endParaRPr/>
          </a:p>
          <a:p>
            <a:pPr indent="-317500" lvl="0" marL="457200" rtl="0" algn="l">
              <a:spcBef>
                <a:spcPts val="1200"/>
              </a:spcBef>
              <a:spcAft>
                <a:spcPts val="0"/>
              </a:spcAft>
              <a:buSzPts val="1400"/>
              <a:buChar char="●"/>
            </a:pPr>
            <a:r>
              <a:rPr lang="en"/>
              <a:t>Adding constraints to card amount</a:t>
            </a:r>
            <a:endParaRPr/>
          </a:p>
          <a:p>
            <a:pPr indent="-317500" lvl="0" marL="457200" rtl="0" algn="l">
              <a:spcBef>
                <a:spcPts val="0"/>
              </a:spcBef>
              <a:spcAft>
                <a:spcPts val="0"/>
              </a:spcAft>
              <a:buSzPts val="1400"/>
              <a:buChar char="●"/>
            </a:pPr>
            <a:r>
              <a:rPr lang="en"/>
              <a:t>Validation Rules</a:t>
            </a:r>
            <a:endParaRPr/>
          </a:p>
          <a:p>
            <a:pPr indent="0" lvl="0" marL="0" rtl="0" algn="l">
              <a:spcBef>
                <a:spcPts val="1200"/>
              </a:spcBef>
              <a:spcAft>
                <a:spcPts val="1200"/>
              </a:spcAft>
              <a:buNone/>
            </a:pPr>
            <a:r>
              <a:t/>
            </a:r>
            <a:endParaRPr/>
          </a:p>
        </p:txBody>
      </p:sp>
      <p:sp>
        <p:nvSpPr>
          <p:cNvPr id="161" name="Google Shape;161;p28"/>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Impact:</a:t>
            </a:r>
            <a:endParaRPr/>
          </a:p>
          <a:p>
            <a:pPr indent="-317500" lvl="0" marL="457200" rtl="0" algn="l">
              <a:spcBef>
                <a:spcPts val="1200"/>
              </a:spcBef>
              <a:spcAft>
                <a:spcPts val="0"/>
              </a:spcAft>
              <a:buSzPts val="1400"/>
              <a:buChar char="●"/>
            </a:pPr>
            <a:r>
              <a:rPr lang="en"/>
              <a:t>Accidental Duplicate</a:t>
            </a:r>
            <a:endParaRPr/>
          </a:p>
          <a:p>
            <a:pPr indent="-317500" lvl="0" marL="457200" rtl="0" algn="l">
              <a:spcBef>
                <a:spcPts val="0"/>
              </a:spcBef>
              <a:spcAft>
                <a:spcPts val="0"/>
              </a:spcAft>
              <a:buSzPts val="1400"/>
              <a:buChar char="●"/>
            </a:pPr>
            <a:r>
              <a:rPr lang="en"/>
              <a:t>Accidental Negative Card Amounts</a:t>
            </a:r>
            <a:endParaRPr/>
          </a:p>
          <a:p>
            <a:pPr indent="-317500" lvl="0" marL="457200" rtl="0" algn="l">
              <a:spcBef>
                <a:spcPts val="0"/>
              </a:spcBef>
              <a:spcAft>
                <a:spcPts val="0"/>
              </a:spcAft>
              <a:buSzPts val="1400"/>
              <a:buChar char="●"/>
            </a:pPr>
            <a:r>
              <a:rPr lang="en"/>
              <a:t>Inconsistent</a:t>
            </a:r>
            <a:r>
              <a:rPr lang="en"/>
              <a:t> Count of Cards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